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25" autoAdjust="0"/>
  </p:normalViewPr>
  <p:slideViewPr>
    <p:cSldViewPr snapToGrid="0" snapToObjects="1">
      <p:cViewPr varScale="1">
        <p:scale>
          <a:sx n="96" d="100"/>
          <a:sy n="96" d="100"/>
        </p:scale>
        <p:origin x="111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yal, Avinash" userId="bca2b515-9f13-4f8a-b991-17b9d4469b67" providerId="ADAL" clId="{A32434CC-5415-428D-8F89-55C09EEE79C8}"/>
    <pc:docChg chg="custSel modSld">
      <pc:chgData name="Nayal, Avinash" userId="bca2b515-9f13-4f8a-b991-17b9d4469b67" providerId="ADAL" clId="{A32434CC-5415-428D-8F89-55C09EEE79C8}" dt="2026-07-01T01:44:28.493" v="0" actId="33524"/>
      <pc:docMkLst>
        <pc:docMk/>
      </pc:docMkLst>
      <pc:sldChg chg="modSp mod">
        <pc:chgData name="Nayal, Avinash" userId="bca2b515-9f13-4f8a-b991-17b9d4469b67" providerId="ADAL" clId="{A32434CC-5415-428D-8F89-55C09EEE79C8}" dt="2026-07-01T01:44:28.493" v="0" actId="33524"/>
        <pc:sldMkLst>
          <pc:docMk/>
          <pc:sldMk cId="0" sldId="256"/>
        </pc:sldMkLst>
        <pc:spChg chg="mod">
          <ac:chgData name="Nayal, Avinash" userId="bca2b515-9f13-4f8a-b991-17b9d4469b67" providerId="ADAL" clId="{A32434CC-5415-428D-8F89-55C09EEE79C8}" dt="2026-07-01T01:44:28.493" v="0" actId="33524"/>
          <ac:spMkLst>
            <pc:docMk/>
            <pc:sldMk cId="0"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0565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The project estimates a lithium-ion cell's internal core temperature — the quantity that governs battery safety — from only the signals a real battery management system can measure: current, voltage, and surface temperature. It is a physics + ML hybrid. The through-line of the whole project is an honest accounting of where its uncertainty comes from.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Week 1. It's like measuring someone's skin temperature when what you really care about is their core body temperature during a fever. The skin reading is real and useful, but converting it to the core depends on how heat travels through the body — and you can't read that from the outside. The whole project exists to bridge that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public dataset measures the internal core temperature directly, so we can't just train a model on it. Instead a calibrated two-state physics model generates core-temperature labels, and the ML model learns to reproduce those. That single fact — the ground-truth core temperatures are model-derived, never measured — shapes everything: what can be validated, what cannot, and where the real uncertainty lives.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stages. First, a calibrated physics model turns measurable signals into core-temperature labels. Second, a machine-learning model learns to reproduce those labels from the same measurable signals — so a deployed system could skip the physics entirely and predict the core directly.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Week 1. The data are real lithium-ion cells run through simulated driving patterns. Everything here is the 25 °C set of the LG 18650HG2 dataset — eleven cycles at one reading per second. The crucial honesty point that shapes the whole project: these datasets only ever measure the battery's surface temperature — never the internal core temperature, which is exactly what we want to predict. So the core-temperature labels are model-derived, not measured.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Week 2. The model splits the cell into two connected parts — a hot core and a cooler surface. Heat generated is current times overpotential, the gap between resting voltage and voltage under load. The model has four physical dials; a free four-parameter fit would be ill-posed, so we pin total heat capacity from mass and specific heat, fix the surface-to-air resistance from cooling tails, and fit only the rest against measured surface temperature. On an in-regime held-out cycle the modeled surface tracks the measurement to 0.38 °C RMSE — a good surface fit means we reproduce what we can measure; it says nothing directly about whether the hidden core values are right.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Week 2 (continued) — the centerpiece. The whole point is to estimate the core–surface gap, which depends on how easily heat flows from core to surface, R_cs. Because we can only measure the surface, that exact parameter is the hardest to determine — two independent papers confirm it's a fundamental limitation, not a gap in effort. Analogy: like estimating an engine's core temperature from a thermometer taped to its casing — converting the casing reading to the core depends on how well heat travels through the metal, which you can't measure from outside. The honest move isn't to pretend you know it; it's to say it's somewhere in this range, so the core is somewhere in this band. That band is about 5 °C — the dominant uncertainty in the whole pipeline.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Week 3. We trained ML models to reproduce the physics model's core labels using only signals a real system can measure — current, voltage, surface temperature, and their recent history (lags, rolling averages of I² and I·V, and the surface's rate of change). We scored honestly: every model was tested only on drive cycles it had never seen — leave-one-cycle-out — never on scattered moments from cycles it had already learned, because a random split of a time series tests memorization, not generalization.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From Week 3. A simple linear model and a flexible tree ensemble came out essentially tied — pooled leave-one-cycle-out RMSE 0.419 vs 0.412 °C, agreeing within about a hundredth of a degree, both predicting unseen core temperature to within about half a degree. Ridge is reported: statistically indistinguishable RMSE, a slightly tighter worst-case tail, and simpler. Against the naive 'core sits at the resting temperature' baseline (</a:t>
            </a:r>
            <a:r>
              <a:rPr dirty="0" err="1"/>
              <a:t>T_core</a:t>
            </a:r>
            <a:r>
              <a:rPr dirty="0"/>
              <a:t> = </a:t>
            </a:r>
            <a:r>
              <a:rPr dirty="0" err="1"/>
              <a:t>T_inf</a:t>
            </a:r>
            <a:r>
              <a:rPr dirty="0"/>
              <a:t>, 2.15 °C RMSE) ridge is about 5× better. The tie is the real finding: the link between what we measure and the hidden core is simple enough that a basic model captures it, and that half-degree of ML error is small next to the several-degree physical uncertainty we already measured. The ML was never the bottleneck.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ablation asks whether the surface temperature is carrying real signal or just acting as a near-copy of the label. Deny the model its surface features and let it work from electrical signals alone: both degrade sharply — ridge RMSE goes 0.444 to 0.890, HGBR 0.434 to 0.696 °C — so surface temperature is doing real work. And the ranking flips: with the full feature set ridge has the tighter worst-case tail (1.35 vs 1.63), but strip the surface features and HGBR wins on both metrics. So the model choice is conditional — ridge for the sensored setup, HGBR would reopen the choice for a genuinely sensorless deployment. A clean follow-up direction, not a result to overclaim.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limitations sit almost entirely on the physics-and-labels side. First and plainest: the core-temperature labels are model-derived, never measured — there is no core thermocouple in the data, so a low ML error means the surrogate faithfully reproduces the labels, not that the labels' absolute core values are correct. Second: the </a:t>
            </a:r>
            <a:r>
              <a:rPr dirty="0" err="1"/>
              <a:t>R_cs</a:t>
            </a:r>
            <a:r>
              <a:rPr dirty="0"/>
              <a:t> band, about 5 °C, is not one limitation among several — it is the limitation, and it sets the scale. Third: claims are cycle-scoped — the clean pipeline-value claims rest on two thermally-validated cycles, and the labels are 25 °C only; at 0 °C the model runs out of regime and over-accumulates heat. These are edges the project draws on purpose.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pipeline, the locked calibration, the figures, and the working notes are public. Reproduction has two honest modes. The default regenerates the published figures from the committed locked 2026-06-18b calibration — and the figure script refuses to run if that calibration drifts, so the numbers can only ever come from the run that produced them. The second re-derives the calibration from scratch for anyone who wants to check the physics; it may not land bit-for-bit, and the same guard will say so. That split is the reproducibility version of the argument the whole write-up makes: be explicit about what's fixed, what's free, and how you'd know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one-sentence version: I built a careful estimator of a quantity I can't measure, and the most valuable thing it produces is an honest account of how much it can't know. The fever analogy still holds — you can get very good at reading the skin, but past a point the limit isn't your skill with the thermometer you have; it's the thermometer you don't.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331720"/>
            <a:ext cx="12191695" cy="2194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14600"/>
            <a:ext cx="10698480" cy="1371600"/>
          </a:xfrm>
          <a:prstGeom prst="rect">
            <a:avLst/>
          </a:prstGeom>
          <a:noFill/>
        </p:spPr>
        <p:txBody>
          <a:bodyPr wrap="square">
            <a:spAutoFit/>
          </a:bodyPr>
          <a:lstStyle/>
          <a:p>
            <a:r>
              <a:rPr sz="4000" b="1" i="0" dirty="0">
                <a:solidFill>
                  <a:srgbClr val="FFFFFF"/>
                </a:solidFill>
                <a:latin typeface="Calibri"/>
              </a:rPr>
              <a:t>Predicting a battery's core </a:t>
            </a:r>
            <a:r>
              <a:rPr lang="en-US" sz="4000" b="1" i="0" dirty="0">
                <a:solidFill>
                  <a:srgbClr val="FFFFFF"/>
                </a:solidFill>
                <a:latin typeface="Calibri"/>
              </a:rPr>
              <a:t>temperature,</a:t>
            </a:r>
            <a:r>
              <a:rPr sz="4000" b="1" i="0" dirty="0">
                <a:solidFill>
                  <a:srgbClr val="FFFFFF"/>
                </a:solidFill>
                <a:latin typeface="Calibri"/>
              </a:rPr>
              <a:t> you can't measure</a:t>
            </a:r>
          </a:p>
        </p:txBody>
      </p:sp>
      <p:sp>
        <p:nvSpPr>
          <p:cNvPr id="4" name="TextBox 3"/>
          <p:cNvSpPr txBox="1"/>
          <p:nvPr/>
        </p:nvSpPr>
        <p:spPr>
          <a:xfrm>
            <a:off x="731520" y="3794760"/>
            <a:ext cx="10698480" cy="640080"/>
          </a:xfrm>
          <a:prstGeom prst="rect">
            <a:avLst/>
          </a:prstGeom>
          <a:noFill/>
        </p:spPr>
        <p:txBody>
          <a:bodyPr wrap="square">
            <a:spAutoFit/>
          </a:bodyPr>
          <a:lstStyle/>
          <a:p>
            <a:r>
              <a:rPr sz="2200" b="0" i="0">
                <a:solidFill>
                  <a:srgbClr val="FFFFFF"/>
                </a:solidFill>
                <a:latin typeface="Calibri"/>
              </a:rPr>
              <a:t>A physics + machine-learning hybrid for lithium-ion cells</a:t>
            </a:r>
          </a:p>
        </p:txBody>
      </p:sp>
      <p:sp>
        <p:nvSpPr>
          <p:cNvPr id="5" name="TextBox 4"/>
          <p:cNvSpPr txBox="1"/>
          <p:nvPr/>
        </p:nvSpPr>
        <p:spPr>
          <a:xfrm>
            <a:off x="731520" y="4754880"/>
            <a:ext cx="10698480" cy="548640"/>
          </a:xfrm>
          <a:prstGeom prst="rect">
            <a:avLst/>
          </a:prstGeom>
          <a:noFill/>
        </p:spPr>
        <p:txBody>
          <a:bodyPr wrap="square">
            <a:spAutoFit/>
          </a:bodyPr>
          <a:lstStyle/>
          <a:p>
            <a:r>
              <a:rPr sz="1800" b="1" i="0">
                <a:solidFill>
                  <a:srgbClr val="1F4E79"/>
                </a:solidFill>
                <a:latin typeface="Calibri"/>
              </a:rPr>
              <a:t>Avinash Nayal  ·  avinashnayal.com/thermal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The problem: the temperature that matters is the one you can't see</a:t>
            </a:r>
          </a:p>
        </p:txBody>
      </p:sp>
      <p:sp>
        <p:nvSpPr>
          <p:cNvPr id="4" name="TextBox 3"/>
          <p:cNvSpPr txBox="1"/>
          <p:nvPr/>
        </p:nvSpPr>
        <p:spPr>
          <a:xfrm>
            <a:off x="640080" y="1371600"/>
            <a:ext cx="10972800" cy="4023360"/>
          </a:xfrm>
          <a:prstGeom prst="rect">
            <a:avLst/>
          </a:prstGeom>
          <a:noFill/>
        </p:spPr>
        <p:txBody>
          <a:bodyPr wrap="square">
            <a:spAutoFit/>
          </a:bodyPr>
          <a:lstStyle/>
          <a:p>
            <a:pPr>
              <a:spcAft>
                <a:spcPts val="1000"/>
              </a:spcAft>
            </a:pPr>
            <a:r>
              <a:rPr sz="2200" b="1" i="0">
                <a:solidFill>
                  <a:srgbClr val="222222"/>
                </a:solidFill>
                <a:latin typeface="Calibri"/>
              </a:rPr>
              <a:t>•  Cells fail from the inside out</a:t>
            </a:r>
          </a:p>
          <a:p>
            <a:pPr lvl="1">
              <a:spcAft>
                <a:spcPts val="1000"/>
              </a:spcAft>
            </a:pPr>
            <a:r>
              <a:rPr sz="1900" b="0" i="0">
                <a:solidFill>
                  <a:srgbClr val="222222"/>
                </a:solidFill>
                <a:latin typeface="Calibri"/>
              </a:rPr>
              <a:t>–  Core temperature drives degradation, thermal runaway, safety margin</a:t>
            </a:r>
          </a:p>
          <a:p>
            <a:pPr>
              <a:spcAft>
                <a:spcPts val="1000"/>
              </a:spcAft>
            </a:pPr>
            <a:r>
              <a:rPr sz="2200" b="1" i="0">
                <a:solidFill>
                  <a:srgbClr val="222222"/>
                </a:solidFill>
                <a:latin typeface="Calibri"/>
              </a:rPr>
              <a:t>•  But sensors only ever see the surface</a:t>
            </a:r>
          </a:p>
          <a:p>
            <a:pPr lvl="1">
              <a:spcAft>
                <a:spcPts val="1000"/>
              </a:spcAft>
            </a:pPr>
            <a:r>
              <a:rPr sz="1900" b="0" i="0">
                <a:solidFill>
                  <a:srgbClr val="222222"/>
                </a:solidFill>
                <a:latin typeface="Calibri"/>
              </a:rPr>
              <a:t>–  A BMS (and nearly every public dataset) reads casing temperature only</a:t>
            </a:r>
          </a:p>
          <a:p>
            <a:pPr>
              <a:spcAft>
                <a:spcPts val="1000"/>
              </a:spcAft>
            </a:pPr>
            <a:r>
              <a:rPr sz="2200" b="1" i="0">
                <a:solidFill>
                  <a:srgbClr val="222222"/>
                </a:solidFill>
                <a:latin typeface="Calibri"/>
              </a:rPr>
              <a:t>•  The gap opens exactly when it matters</a:t>
            </a:r>
          </a:p>
          <a:p>
            <a:pPr lvl="1">
              <a:spcAft>
                <a:spcPts val="1000"/>
              </a:spcAft>
            </a:pPr>
            <a:r>
              <a:rPr sz="1900" b="0" i="0">
                <a:solidFill>
                  <a:srgbClr val="222222"/>
                </a:solidFill>
                <a:latin typeface="Calibri"/>
              </a:rPr>
              <a:t>–  Under hard, high-current use the core runs several °C hotter than the surface</a:t>
            </a:r>
          </a:p>
        </p:txBody>
      </p:sp>
      <p:sp>
        <p:nvSpPr>
          <p:cNvPr id="5" name="TextBox 4"/>
          <p:cNvSpPr txBox="1"/>
          <p:nvPr/>
        </p:nvSpPr>
        <p:spPr>
          <a:xfrm>
            <a:off x="640080" y="5486400"/>
            <a:ext cx="10972800" cy="1097280"/>
          </a:xfrm>
          <a:prstGeom prst="rect">
            <a:avLst/>
          </a:prstGeom>
          <a:noFill/>
        </p:spPr>
        <p:txBody>
          <a:bodyPr wrap="square">
            <a:spAutoFit/>
          </a:bodyPr>
          <a:lstStyle/>
          <a:p>
            <a:r>
              <a:rPr sz="2000" b="1" i="0">
                <a:solidFill>
                  <a:srgbClr val="1F4E79"/>
                </a:solidFill>
                <a:latin typeface="Calibri"/>
              </a:rPr>
              <a:t>Fever analogy:  </a:t>
            </a:r>
            <a:r>
              <a:rPr sz="2000" b="0" i="1">
                <a:solidFill>
                  <a:srgbClr val="222222"/>
                </a:solidFill>
                <a:latin typeface="Calibri"/>
              </a:rPr>
              <a:t>like reading a fever off a skin thermometer when you care about core body temperature — the skin reading is real, but converting it to the core depends on how heat travels inside, which you can't read from outside.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Why it's hard: there is no core temperature to train on</a:t>
            </a:r>
          </a:p>
        </p:txBody>
      </p:sp>
      <p:sp>
        <p:nvSpPr>
          <p:cNvPr id="4" name="TextBox 3"/>
          <p:cNvSpPr txBox="1"/>
          <p:nvPr/>
        </p:nvSpPr>
        <p:spPr>
          <a:xfrm>
            <a:off x="640080" y="1371600"/>
            <a:ext cx="11155680" cy="4754880"/>
          </a:xfrm>
          <a:prstGeom prst="rect">
            <a:avLst/>
          </a:prstGeom>
          <a:noFill/>
        </p:spPr>
        <p:txBody>
          <a:bodyPr wrap="square">
            <a:spAutoFit/>
          </a:bodyPr>
          <a:lstStyle/>
          <a:p>
            <a:pPr>
              <a:spcAft>
                <a:spcPts val="1000"/>
              </a:spcAft>
            </a:pPr>
            <a:r>
              <a:rPr sz="2200" b="1" i="0">
                <a:solidFill>
                  <a:srgbClr val="222222"/>
                </a:solidFill>
                <a:latin typeface="Calibri"/>
              </a:rPr>
              <a:t>•  No public dataset measures internal core temperature</a:t>
            </a:r>
          </a:p>
          <a:p>
            <a:pPr lvl="1">
              <a:spcAft>
                <a:spcPts val="1000"/>
              </a:spcAft>
            </a:pPr>
            <a:r>
              <a:rPr sz="1900" b="0" i="0">
                <a:solidFill>
                  <a:srgbClr val="222222"/>
                </a:solidFill>
                <a:latin typeface="Calibri"/>
              </a:rPr>
              <a:t>–  There is no core thermocouple anywhere in the data</a:t>
            </a:r>
          </a:p>
          <a:p>
            <a:pPr>
              <a:spcAft>
                <a:spcPts val="1000"/>
              </a:spcAft>
            </a:pPr>
            <a:r>
              <a:rPr sz="2200" b="1" i="0">
                <a:solidFill>
                  <a:srgbClr val="222222"/>
                </a:solidFill>
                <a:latin typeface="Calibri"/>
              </a:rPr>
              <a:t>•  So the labels must be synthesized</a:t>
            </a:r>
          </a:p>
          <a:p>
            <a:pPr lvl="1">
              <a:spcAft>
                <a:spcPts val="1000"/>
              </a:spcAft>
            </a:pPr>
            <a:r>
              <a:rPr sz="1900" b="0" i="0">
                <a:solidFill>
                  <a:srgbClr val="222222"/>
                </a:solidFill>
                <a:latin typeface="Calibri"/>
              </a:rPr>
              <a:t>–  A calibrated physics model generates the core-temperature labels</a:t>
            </a:r>
          </a:p>
          <a:p>
            <a:pPr lvl="1">
              <a:spcAft>
                <a:spcPts val="1000"/>
              </a:spcAft>
            </a:pPr>
            <a:r>
              <a:rPr sz="1900" b="0" i="0">
                <a:solidFill>
                  <a:srgbClr val="222222"/>
                </a:solidFill>
                <a:latin typeface="Calibri"/>
              </a:rPr>
              <a:t>–  An ML model then learns to reproduce them from measurable signals</a:t>
            </a:r>
          </a:p>
          <a:p>
            <a:pPr>
              <a:spcAft>
                <a:spcPts val="1000"/>
              </a:spcAft>
            </a:pPr>
            <a:r>
              <a:rPr sz="2200" b="1" i="0">
                <a:solidFill>
                  <a:srgbClr val="222222"/>
                </a:solidFill>
                <a:latin typeface="Calibri"/>
              </a:rPr>
              <a:t>•  The honest consequence, stated up front</a:t>
            </a:r>
          </a:p>
          <a:p>
            <a:pPr lvl="1">
              <a:spcAft>
                <a:spcPts val="1000"/>
              </a:spcAft>
            </a:pPr>
            <a:r>
              <a:rPr sz="2000" b="1" i="0">
                <a:solidFill>
                  <a:srgbClr val="222222"/>
                </a:solidFill>
                <a:latin typeface="Calibri"/>
              </a:rPr>
              <a:t>–  Every core temperature in this project is MODEL-DERIVED, not measured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Approach: a two-stage physics-then-ML pipeline</a:t>
            </a:r>
          </a:p>
        </p:txBody>
      </p:sp>
      <p:sp>
        <p:nvSpPr>
          <p:cNvPr id="4" name="TextBox 3"/>
          <p:cNvSpPr txBox="1"/>
          <p:nvPr/>
        </p:nvSpPr>
        <p:spPr>
          <a:xfrm>
            <a:off x="640080" y="1463040"/>
            <a:ext cx="5486400" cy="4572000"/>
          </a:xfrm>
          <a:prstGeom prst="rect">
            <a:avLst/>
          </a:prstGeom>
          <a:noFill/>
        </p:spPr>
        <p:txBody>
          <a:bodyPr wrap="square">
            <a:spAutoFit/>
          </a:bodyPr>
          <a:lstStyle/>
          <a:p>
            <a:pPr>
              <a:spcAft>
                <a:spcPts val="1000"/>
              </a:spcAft>
            </a:pPr>
            <a:r>
              <a:rPr sz="2000" b="1" i="0">
                <a:solidFill>
                  <a:srgbClr val="222222"/>
                </a:solidFill>
                <a:latin typeface="Calibri"/>
              </a:rPr>
              <a:t>•  Raw drive cycles (I, V, T_surface @ 1 Hz)</a:t>
            </a:r>
          </a:p>
          <a:p>
            <a:pPr lvl="1">
              <a:spcAft>
                <a:spcPts val="1000"/>
              </a:spcAft>
            </a:pPr>
            <a:r>
              <a:rPr sz="1900" b="0" i="0">
                <a:solidFill>
                  <a:srgbClr val="222222"/>
                </a:solidFill>
                <a:latin typeface="Calibri"/>
              </a:rPr>
              <a:t>–  ↓  calibrated two-state thermal model</a:t>
            </a:r>
          </a:p>
          <a:p>
            <a:pPr>
              <a:spcAft>
                <a:spcPts val="1000"/>
              </a:spcAft>
            </a:pPr>
            <a:r>
              <a:rPr sz="2000" b="1" i="0">
                <a:solidFill>
                  <a:srgbClr val="222222"/>
                </a:solidFill>
                <a:latin typeface="Calibri"/>
              </a:rPr>
              <a:t>•  Model-derived core-temperature labels</a:t>
            </a:r>
          </a:p>
          <a:p>
            <a:pPr lvl="1">
              <a:spcAft>
                <a:spcPts val="1000"/>
              </a:spcAft>
            </a:pPr>
            <a:r>
              <a:rPr sz="1900" b="0" i="0">
                <a:solidFill>
                  <a:srgbClr val="222222"/>
                </a:solidFill>
                <a:latin typeface="Calibri"/>
              </a:rPr>
              <a:t>–  ↓  learned surrogate</a:t>
            </a:r>
          </a:p>
          <a:p>
            <a:pPr>
              <a:spcAft>
                <a:spcPts val="1000"/>
              </a:spcAft>
            </a:pPr>
            <a:r>
              <a:rPr sz="2000" b="1" i="0">
                <a:solidFill>
                  <a:srgbClr val="222222"/>
                </a:solidFill>
                <a:latin typeface="Calibri"/>
              </a:rPr>
              <a:t>•  ML map:  I, V, T_surface  →  T_core</a:t>
            </a:r>
          </a:p>
          <a:p>
            <a:pPr lvl="1">
              <a:spcAft>
                <a:spcPts val="1000"/>
              </a:spcAft>
            </a:pPr>
            <a:r>
              <a:rPr sz="1800" b="0" i="0">
                <a:solidFill>
                  <a:srgbClr val="222222"/>
                </a:solidFill>
                <a:latin typeface="Calibri"/>
              </a:rPr>
              <a:t>–  A deployed system could skip the physics and predict the core directly</a:t>
            </a:r>
          </a:p>
        </p:txBody>
      </p:sp>
      <p:pic>
        <p:nvPicPr>
          <p:cNvPr id="5" name="Picture 4" descr="F1_two_state_schematic.png"/>
          <p:cNvPicPr>
            <a:picLocks noChangeAspect="1"/>
          </p:cNvPicPr>
          <p:nvPr/>
        </p:nvPicPr>
        <p:blipFill>
          <a:blip r:embed="rId3"/>
          <a:stretch>
            <a:fillRect/>
          </a:stretch>
        </p:blipFill>
        <p:spPr>
          <a:xfrm>
            <a:off x="6172200" y="2156252"/>
            <a:ext cx="5577840" cy="3185575"/>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1 — two-state lumped model (committed). LOCKED 2026-06-18b.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Data: real cells, standard drive cycles, surface-only sensing</a:t>
            </a:r>
          </a:p>
        </p:txBody>
      </p:sp>
      <p:sp>
        <p:nvSpPr>
          <p:cNvPr id="4" name="TextBox 3"/>
          <p:cNvSpPr txBox="1"/>
          <p:nvPr/>
        </p:nvSpPr>
        <p:spPr>
          <a:xfrm>
            <a:off x="640080" y="1371600"/>
            <a:ext cx="5486400" cy="4754880"/>
          </a:xfrm>
          <a:prstGeom prst="rect">
            <a:avLst/>
          </a:prstGeom>
          <a:noFill/>
        </p:spPr>
        <p:txBody>
          <a:bodyPr wrap="square">
            <a:spAutoFit/>
          </a:bodyPr>
          <a:lstStyle/>
          <a:p>
            <a:pPr>
              <a:spcAft>
                <a:spcPts val="1000"/>
              </a:spcAft>
            </a:pPr>
            <a:r>
              <a:rPr sz="1900" b="1" i="0">
                <a:solidFill>
                  <a:srgbClr val="222222"/>
                </a:solidFill>
                <a:latin typeface="Calibri"/>
              </a:rPr>
              <a:t>•  LG 18650HG2 dataset (Kollmeyer et al., McMaster; Mendeley Data)</a:t>
            </a:r>
          </a:p>
          <a:p>
            <a:pPr lvl="1">
              <a:spcAft>
                <a:spcPts val="1000"/>
              </a:spcAft>
            </a:pPr>
            <a:r>
              <a:rPr sz="1500" b="0" i="0">
                <a:solidFill>
                  <a:srgbClr val="222222"/>
                </a:solidFill>
                <a:latin typeface="Calibri"/>
              </a:rPr>
              <a:t>– Licensed CC BY 4.0 (DOI 10.17632/cp3473x7xv.3)</a:t>
            </a:r>
          </a:p>
          <a:p>
            <a:pPr>
              <a:spcAft>
                <a:spcPts val="1000"/>
              </a:spcAft>
            </a:pPr>
            <a:r>
              <a:rPr sz="1900" b="1" i="0">
                <a:solidFill>
                  <a:srgbClr val="222222"/>
                </a:solidFill>
                <a:latin typeface="Calibri"/>
              </a:rPr>
              <a:t>•  Automotive cycles: US06, LA92, UDDS + eight mixed</a:t>
            </a:r>
          </a:p>
          <a:p>
            <a:pPr lvl="1">
              <a:spcAft>
                <a:spcPts val="1000"/>
              </a:spcAft>
            </a:pPr>
            <a:r>
              <a:rPr sz="1800" b="0" i="0">
                <a:solidFill>
                  <a:srgbClr val="222222"/>
                </a:solidFill>
                <a:latin typeface="Calibri"/>
              </a:rPr>
              <a:t>–  This work uses the 25 °C set — eleven cycles, logged at 1 Hz</a:t>
            </a:r>
          </a:p>
          <a:p>
            <a:pPr lvl="1">
              <a:spcAft>
                <a:spcPts val="1000"/>
              </a:spcAft>
            </a:pPr>
            <a:r>
              <a:rPr sz="1800" b="0" i="0">
                <a:solidFill>
                  <a:srgbClr val="222222"/>
                </a:solidFill>
                <a:latin typeface="Calibri"/>
              </a:rPr>
              <a:t>–  Colder ambients set aside on purpose (§4 shows why)</a:t>
            </a:r>
          </a:p>
          <a:p>
            <a:pPr>
              <a:spcAft>
                <a:spcPts val="1000"/>
              </a:spcAft>
            </a:pPr>
            <a:r>
              <a:rPr sz="2000" b="1" i="0">
                <a:solidFill>
                  <a:srgbClr val="222222"/>
                </a:solidFill>
                <a:latin typeface="Calibri"/>
              </a:rPr>
              <a:t>•  Core-temp labels are MODEL-DERIVED, not measured</a:t>
            </a:r>
          </a:p>
          <a:p>
            <a:pPr lvl="1">
              <a:spcAft>
                <a:spcPts val="1000"/>
              </a:spcAft>
            </a:pPr>
            <a:r>
              <a:rPr sz="1800" b="0" i="0">
                <a:solidFill>
                  <a:srgbClr val="222222"/>
                </a:solidFill>
                <a:latin typeface="Calibri"/>
              </a:rPr>
              <a:t>–  The dataset measures surface temperature only</a:t>
            </a:r>
          </a:p>
        </p:txBody>
      </p:sp>
      <p:pic>
        <p:nvPicPr>
          <p:cNvPr id="5" name="Picture 4" descr="F5_ocv_curve.png"/>
          <p:cNvPicPr>
            <a:picLocks noChangeAspect="1"/>
          </p:cNvPicPr>
          <p:nvPr/>
        </p:nvPicPr>
        <p:blipFill>
          <a:blip r:embed="rId3"/>
          <a:stretch>
            <a:fillRect/>
          </a:stretch>
        </p:blipFill>
        <p:spPr>
          <a:xfrm>
            <a:off x="6172200" y="2050948"/>
            <a:ext cx="5577840" cy="3396184"/>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5 — resting-voltage V_OCV(SOC) from the C/20 characterization (committed).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The physics: two coupled nodes, heat in, calibrate to surface</a:t>
            </a:r>
          </a:p>
        </p:txBody>
      </p:sp>
      <p:sp>
        <p:nvSpPr>
          <p:cNvPr id="4" name="TextBox 3"/>
          <p:cNvSpPr txBox="1"/>
          <p:nvPr/>
        </p:nvSpPr>
        <p:spPr>
          <a:xfrm>
            <a:off x="640080" y="1371600"/>
            <a:ext cx="5486400" cy="4754880"/>
          </a:xfrm>
          <a:prstGeom prst="rect">
            <a:avLst/>
          </a:prstGeom>
          <a:noFill/>
        </p:spPr>
        <p:txBody>
          <a:bodyPr wrap="square">
            <a:spAutoFit/>
          </a:bodyPr>
          <a:lstStyle/>
          <a:p>
            <a:pPr>
              <a:spcAft>
                <a:spcPts val="1000"/>
              </a:spcAft>
            </a:pPr>
            <a:r>
              <a:rPr sz="2000" b="1" i="0">
                <a:solidFill>
                  <a:srgbClr val="222222"/>
                </a:solidFill>
                <a:latin typeface="Calibri"/>
              </a:rPr>
              <a:t>•  Two-state lumped model</a:t>
            </a:r>
          </a:p>
          <a:p>
            <a:pPr lvl="1">
              <a:spcAft>
                <a:spcPts val="1000"/>
              </a:spcAft>
            </a:pPr>
            <a:r>
              <a:rPr sz="1800" b="0" i="0">
                <a:solidFill>
                  <a:srgbClr val="222222"/>
                </a:solidFill>
                <a:latin typeface="Calibri"/>
              </a:rPr>
              <a:t>–  Hot core node + cooler surface node, coupled by internal resistance R_cs</a:t>
            </a:r>
          </a:p>
          <a:p>
            <a:pPr>
              <a:spcAft>
                <a:spcPts val="1000"/>
              </a:spcAft>
            </a:pPr>
            <a:r>
              <a:rPr sz="2000" b="1" i="0">
                <a:solidFill>
                  <a:srgbClr val="222222"/>
                </a:solidFill>
                <a:latin typeface="Calibri"/>
              </a:rPr>
              <a:t>•  Heat generation:  Q = I · (V − V_OCV)</a:t>
            </a:r>
          </a:p>
          <a:p>
            <a:pPr lvl="1">
              <a:spcAft>
                <a:spcPts val="1000"/>
              </a:spcAft>
            </a:pPr>
            <a:r>
              <a:rPr sz="1800" b="0" i="0">
                <a:solidFill>
                  <a:srgbClr val="222222"/>
                </a:solidFill>
                <a:latin typeface="Calibri"/>
              </a:rPr>
              <a:t>–  current × overpotential = power lost as heat</a:t>
            </a:r>
          </a:p>
          <a:p>
            <a:pPr>
              <a:spcAft>
                <a:spcPts val="1000"/>
              </a:spcAft>
            </a:pPr>
            <a:r>
              <a:rPr sz="2000" b="1" i="0">
                <a:solidFill>
                  <a:srgbClr val="222222"/>
                </a:solidFill>
                <a:latin typeface="Calibri"/>
              </a:rPr>
              <a:t>•  Constrained calibration — pin what you can, fit only what you must</a:t>
            </a:r>
          </a:p>
          <a:p>
            <a:pPr lvl="1">
              <a:spcAft>
                <a:spcPts val="1000"/>
              </a:spcAft>
            </a:pPr>
            <a:r>
              <a:rPr sz="1800" b="0" i="0">
                <a:solidFill>
                  <a:srgbClr val="222222"/>
                </a:solidFill>
                <a:latin typeface="Calibri"/>
              </a:rPr>
              <a:t>–  Parameters tuned so modeled surface matches measured surface</a:t>
            </a:r>
          </a:p>
          <a:p>
            <a:pPr lvl="1">
              <a:spcAft>
                <a:spcPts val="1000"/>
              </a:spcAft>
            </a:pPr>
            <a:r>
              <a:rPr sz="1800" b="1" i="0">
                <a:solidFill>
                  <a:srgbClr val="222222"/>
                </a:solidFill>
                <a:latin typeface="Calibri"/>
              </a:rPr>
              <a:t>–  In-regime held-out surface fit: 0.38 °C RMSE</a:t>
            </a:r>
          </a:p>
        </p:txBody>
      </p:sp>
      <p:pic>
        <p:nvPicPr>
          <p:cNvPr id="5" name="Picture 4" descr="F6_calibration_surface_fit.png"/>
          <p:cNvPicPr>
            <a:picLocks noChangeAspect="1"/>
          </p:cNvPicPr>
          <p:nvPr/>
        </p:nvPicPr>
        <p:blipFill>
          <a:blip r:embed="rId3"/>
          <a:stretch>
            <a:fillRect/>
          </a:stretch>
        </p:blipFill>
        <p:spPr>
          <a:xfrm>
            <a:off x="6172200" y="2201727"/>
            <a:ext cx="5577840" cy="3094625"/>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6 — modeled vs measured surface, Mixed1 @ 25 °C (committed).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The honest finding: the dominant uncertainty is one we can't measure</a:t>
            </a:r>
          </a:p>
        </p:txBody>
      </p:sp>
      <p:sp>
        <p:nvSpPr>
          <p:cNvPr id="4" name="TextBox 3"/>
          <p:cNvSpPr txBox="1"/>
          <p:nvPr/>
        </p:nvSpPr>
        <p:spPr>
          <a:xfrm>
            <a:off x="502920" y="1371600"/>
            <a:ext cx="5669280" cy="4937760"/>
          </a:xfrm>
          <a:prstGeom prst="rect">
            <a:avLst/>
          </a:prstGeom>
          <a:noFill/>
        </p:spPr>
        <p:txBody>
          <a:bodyPr wrap="square">
            <a:spAutoFit/>
          </a:bodyPr>
          <a:lstStyle/>
          <a:p>
            <a:pPr>
              <a:spcAft>
                <a:spcPts val="1000"/>
              </a:spcAft>
            </a:pPr>
            <a:r>
              <a:rPr sz="1900" b="1" i="0">
                <a:solidFill>
                  <a:srgbClr val="222222"/>
                </a:solidFill>
                <a:latin typeface="Calibri"/>
              </a:rPr>
              <a:t>•  R_cs sets the core–surface gap:  T_core − T_surf ≈ Q · R_cs</a:t>
            </a:r>
          </a:p>
          <a:p>
            <a:pPr lvl="1">
              <a:spcAft>
                <a:spcPts val="1000"/>
              </a:spcAft>
            </a:pPr>
            <a:r>
              <a:rPr sz="1800" b="0" i="0">
                <a:solidFill>
                  <a:srgbClr val="222222"/>
                </a:solidFill>
                <a:latin typeface="Calibri"/>
              </a:rPr>
              <a:t>–  …yet surface temperature is almost insensitive to it</a:t>
            </a:r>
          </a:p>
          <a:p>
            <a:pPr lvl="1">
              <a:spcAft>
                <a:spcPts val="1000"/>
              </a:spcAft>
            </a:pPr>
            <a:r>
              <a:rPr sz="1800" b="0" i="0">
                <a:solidFill>
                  <a:srgbClr val="222222"/>
                </a:solidFill>
                <a:latin typeface="Calibri"/>
              </a:rPr>
              <a:t>–  So the parameter that matters most is the one the data constrains least</a:t>
            </a:r>
          </a:p>
          <a:p>
            <a:pPr>
              <a:spcAft>
                <a:spcPts val="1000"/>
              </a:spcAft>
            </a:pPr>
            <a:r>
              <a:rPr sz="1900" b="1" i="0">
                <a:solidFill>
                  <a:srgbClr val="222222"/>
                </a:solidFill>
                <a:latin typeface="Calibri"/>
              </a:rPr>
              <a:t>•  The move: refuse a false-precise value; propagate a plausible range</a:t>
            </a:r>
          </a:p>
          <a:p>
            <a:pPr lvl="1">
              <a:spcAft>
                <a:spcPts val="1000"/>
              </a:spcAft>
            </a:pPr>
            <a:r>
              <a:rPr sz="1800" b="0" i="0">
                <a:solidFill>
                  <a:srgbClr val="222222"/>
                </a:solidFill>
                <a:latin typeface="Calibri"/>
              </a:rPr>
              <a:t>–  R_cs ∈ [1.70, 8.49] K/W (central 3.39) → core is a band, not a line</a:t>
            </a:r>
          </a:p>
          <a:p>
            <a:pPr>
              <a:spcAft>
                <a:spcPts val="1000"/>
              </a:spcAft>
            </a:pPr>
            <a:r>
              <a:rPr sz="2000" b="1" i="0">
                <a:solidFill>
                  <a:srgbClr val="222222"/>
                </a:solidFill>
                <a:latin typeface="Calibri"/>
              </a:rPr>
              <a:t>•  ~5 °C core-temp label band  (5.05 °C peak, US06)</a:t>
            </a:r>
          </a:p>
          <a:p>
            <a:pPr lvl="1">
              <a:spcAft>
                <a:spcPts val="1000"/>
              </a:spcAft>
            </a:pPr>
            <a:r>
              <a:rPr sz="1800" b="1" i="0">
                <a:solidFill>
                  <a:srgbClr val="222222"/>
                </a:solidFill>
                <a:latin typeface="Calibri"/>
              </a:rPr>
              <a:t>–  An order of magnitude larger than the ML's own error — this dominates</a:t>
            </a:r>
          </a:p>
          <a:p>
            <a:pPr lvl="1">
              <a:spcAft>
                <a:spcPts val="1000"/>
              </a:spcAft>
            </a:pPr>
            <a:r>
              <a:rPr sz="1800" b="0" i="0">
                <a:solidFill>
                  <a:srgbClr val="222222"/>
                </a:solidFill>
                <a:latin typeface="Calibri"/>
              </a:rPr>
              <a:t>–  Naming your method's weakest point = rigor, not failure</a:t>
            </a:r>
          </a:p>
        </p:txBody>
      </p:sp>
      <p:pic>
        <p:nvPicPr>
          <p:cNvPr id="5" name="Picture 4" descr="F2_rcs_band_sweep.png"/>
          <p:cNvPicPr>
            <a:picLocks noChangeAspect="1"/>
          </p:cNvPicPr>
          <p:nvPr/>
        </p:nvPicPr>
        <p:blipFill>
          <a:blip r:embed="rId3"/>
          <a:stretch>
            <a:fillRect/>
          </a:stretch>
        </p:blipFill>
        <p:spPr>
          <a:xfrm>
            <a:off x="6172200" y="2293104"/>
            <a:ext cx="5577840" cy="2911872"/>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2 — R_cs label-uncertainty band on US06 @ 25 °C (committed).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The ML stage: a faithful, honestly-evaluated surrogate</a:t>
            </a:r>
          </a:p>
        </p:txBody>
      </p:sp>
      <p:sp>
        <p:nvSpPr>
          <p:cNvPr id="4" name="TextBox 3"/>
          <p:cNvSpPr txBox="1"/>
          <p:nvPr/>
        </p:nvSpPr>
        <p:spPr>
          <a:xfrm>
            <a:off x="640080" y="1371600"/>
            <a:ext cx="10972800" cy="4937760"/>
          </a:xfrm>
          <a:prstGeom prst="rect">
            <a:avLst/>
          </a:prstGeom>
          <a:noFill/>
        </p:spPr>
        <p:txBody>
          <a:bodyPr wrap="square">
            <a:spAutoFit/>
          </a:bodyPr>
          <a:lstStyle/>
          <a:p>
            <a:pPr>
              <a:spcAft>
                <a:spcPts val="1000"/>
              </a:spcAft>
            </a:pPr>
            <a:r>
              <a:rPr sz="2100" b="1" i="0">
                <a:solidFill>
                  <a:srgbClr val="222222"/>
                </a:solidFill>
                <a:latin typeface="Calibri"/>
              </a:rPr>
              <a:t>•  Features from what a real system can measure</a:t>
            </a:r>
          </a:p>
          <a:p>
            <a:pPr lvl="1">
              <a:spcAft>
                <a:spcPts val="1000"/>
              </a:spcAft>
            </a:pPr>
            <a:r>
              <a:rPr sz="1800" b="0" i="0">
                <a:solidFill>
                  <a:srgbClr val="222222"/>
                </a:solidFill>
                <a:latin typeface="Calibri"/>
              </a:rPr>
              <a:t>–  Instantaneous I, V, T_surface, T_ambient</a:t>
            </a:r>
          </a:p>
          <a:p>
            <a:pPr lvl="1">
              <a:spcAft>
                <a:spcPts val="1000"/>
              </a:spcAft>
            </a:pPr>
            <a:r>
              <a:rPr sz="1800" b="0" i="0">
                <a:solidFill>
                  <a:srgbClr val="222222"/>
                </a:solidFill>
                <a:latin typeface="Calibri"/>
              </a:rPr>
              <a:t>–  Lags + rolling means of I² and I·V; surface rate-of-change dT_surface/dt</a:t>
            </a:r>
          </a:p>
          <a:p>
            <a:pPr>
              <a:spcAft>
                <a:spcPts val="1000"/>
              </a:spcAft>
            </a:pPr>
            <a:r>
              <a:rPr sz="2100" b="1" i="0">
                <a:solidFill>
                  <a:srgbClr val="222222"/>
                </a:solidFill>
                <a:latin typeface="Calibri"/>
              </a:rPr>
              <a:t>•  Two models, from simple to flexible</a:t>
            </a:r>
          </a:p>
          <a:p>
            <a:pPr lvl="1">
              <a:spcAft>
                <a:spcPts val="1000"/>
              </a:spcAft>
            </a:pPr>
            <a:r>
              <a:rPr sz="1800" b="0" i="0">
                <a:solidFill>
                  <a:srgbClr val="222222"/>
                </a:solidFill>
                <a:latin typeface="Calibri"/>
              </a:rPr>
              <a:t>–  Ridge (regularized linear)  →  HistGradientBoosting (tree ensemble)</a:t>
            </a:r>
          </a:p>
          <a:p>
            <a:pPr>
              <a:spcAft>
                <a:spcPts val="1000"/>
              </a:spcAft>
            </a:pPr>
            <a:r>
              <a:rPr sz="2100" b="1" i="0">
                <a:solidFill>
                  <a:srgbClr val="222222"/>
                </a:solidFill>
                <a:latin typeface="Calibri"/>
              </a:rPr>
              <a:t>•  Evaluation that can't fool you</a:t>
            </a:r>
          </a:p>
          <a:p>
            <a:pPr lvl="1">
              <a:spcAft>
                <a:spcPts val="1000"/>
              </a:spcAft>
            </a:pPr>
            <a:r>
              <a:rPr sz="1800" b="0" i="0">
                <a:solidFill>
                  <a:srgbClr val="222222"/>
                </a:solidFill>
                <a:latin typeface="Calibri"/>
              </a:rPr>
              <a:t>–  Leave-one-cycle-out: hold out WHOLE cycles, never random-split a time series</a:t>
            </a:r>
          </a:p>
          <a:p>
            <a:pPr lvl="1">
              <a:spcAft>
                <a:spcPts val="1000"/>
              </a:spcAft>
            </a:pPr>
            <a:r>
              <a:rPr sz="1700" b="0" i="0">
                <a:solidFill>
                  <a:srgbClr val="222222"/>
                </a:solidFill>
                <a:latin typeface="Calibri"/>
              </a:rPr>
              <a:t>–  A mid-cycle row ≈ its neighbors → a random split tests memorization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Results: a simple model already hits the physical ceiling</a:t>
            </a:r>
          </a:p>
        </p:txBody>
      </p:sp>
      <p:sp>
        <p:nvSpPr>
          <p:cNvPr id="4" name="TextBox 3"/>
          <p:cNvSpPr txBox="1"/>
          <p:nvPr/>
        </p:nvSpPr>
        <p:spPr>
          <a:xfrm>
            <a:off x="640080" y="1371600"/>
            <a:ext cx="5486400" cy="4937760"/>
          </a:xfrm>
          <a:prstGeom prst="rect">
            <a:avLst/>
          </a:prstGeom>
          <a:noFill/>
        </p:spPr>
        <p:txBody>
          <a:bodyPr wrap="square">
            <a:spAutoFit/>
          </a:bodyPr>
          <a:lstStyle/>
          <a:p>
            <a:pPr>
              <a:spcAft>
                <a:spcPts val="1000"/>
              </a:spcAft>
            </a:pPr>
            <a:r>
              <a:rPr sz="1900" b="1" i="0">
                <a:solidFill>
                  <a:srgbClr val="222222"/>
                </a:solidFill>
                <a:latin typeface="Calibri"/>
              </a:rPr>
              <a:t>•  Ridge and HGBR are a near-tie (agree within 0.01 °C)</a:t>
            </a:r>
          </a:p>
          <a:p>
            <a:pPr lvl="1">
              <a:spcAft>
                <a:spcPts val="1000"/>
              </a:spcAft>
            </a:pPr>
            <a:r>
              <a:rPr sz="1800" b="0" i="0">
                <a:solidFill>
                  <a:srgbClr val="222222"/>
                </a:solidFill>
                <a:latin typeface="Calibri"/>
              </a:rPr>
              <a:t>–  Pooled LOCO RMSE:  ridge 0.419 °C   vs   HGBR 0.412 °C</a:t>
            </a:r>
          </a:p>
          <a:p>
            <a:pPr lvl="1">
              <a:spcAft>
                <a:spcPts val="1000"/>
              </a:spcAft>
            </a:pPr>
            <a:r>
              <a:rPr sz="1800" b="0" i="0">
                <a:solidFill>
                  <a:srgbClr val="222222"/>
                </a:solidFill>
                <a:latin typeface="Calibri"/>
              </a:rPr>
              <a:t>–  Worst-case max error:  ridge 1.86 °C   vs   HGBR 1.99 °C</a:t>
            </a:r>
          </a:p>
          <a:p>
            <a:pPr lvl="1">
              <a:spcAft>
                <a:spcPts val="1000"/>
              </a:spcAft>
            </a:pPr>
            <a:r>
              <a:rPr sz="1800" b="0" i="0">
                <a:solidFill>
                  <a:srgbClr val="222222"/>
                </a:solidFill>
                <a:latin typeface="Calibri"/>
              </a:rPr>
              <a:t>–  Ridge reported: ~tied RMSE, better worst-case tail, simpler</a:t>
            </a:r>
          </a:p>
          <a:p>
            <a:pPr>
              <a:spcAft>
                <a:spcPts val="1000"/>
              </a:spcAft>
            </a:pPr>
            <a:r>
              <a:rPr sz="1900" b="1" i="0">
                <a:solidFill>
                  <a:srgbClr val="222222"/>
                </a:solidFill>
                <a:latin typeface="Calibri"/>
              </a:rPr>
              <a:t>•  Beats the naive baseline by ~5×</a:t>
            </a:r>
          </a:p>
          <a:p>
            <a:pPr lvl="1">
              <a:spcAft>
                <a:spcPts val="1000"/>
              </a:spcAft>
            </a:pPr>
            <a:r>
              <a:rPr sz="1800" b="0" i="0">
                <a:solidFill>
                  <a:srgbClr val="222222"/>
                </a:solidFill>
                <a:latin typeface="Calibri"/>
              </a:rPr>
              <a:t>–  vs  T_core = T_inf  baseline  (pooled LOCO RMSE 2.15 °C)</a:t>
            </a:r>
          </a:p>
          <a:p>
            <a:pPr>
              <a:spcAft>
                <a:spcPts val="1000"/>
              </a:spcAft>
            </a:pPr>
            <a:r>
              <a:rPr sz="1900" b="1" i="0">
                <a:solidFill>
                  <a:srgbClr val="222222"/>
                </a:solidFill>
                <a:latin typeface="Calibri"/>
              </a:rPr>
              <a:t>•  The tie is the finding: the map is near-linear — ML is not the bottleneck</a:t>
            </a:r>
          </a:p>
          <a:p>
            <a:pPr lvl="1">
              <a:spcAft>
                <a:spcPts val="1000"/>
              </a:spcAft>
            </a:pPr>
            <a:r>
              <a:rPr sz="1800" b="1" i="0">
                <a:solidFill>
                  <a:srgbClr val="222222"/>
                </a:solidFill>
                <a:latin typeface="Calibri"/>
              </a:rPr>
              <a:t>–  ~0.4 °C ML error sits inside a ~5 °C physical label band</a:t>
            </a:r>
          </a:p>
        </p:txBody>
      </p:sp>
      <p:pic>
        <p:nvPicPr>
          <p:cNvPr id="5" name="Picture 4" descr="F4_loco_ridge_vs_hgbr.png"/>
          <p:cNvPicPr>
            <a:picLocks noChangeAspect="1"/>
          </p:cNvPicPr>
          <p:nvPr/>
        </p:nvPicPr>
        <p:blipFill>
          <a:blip r:embed="rId3"/>
          <a:stretch>
            <a:fillRect/>
          </a:stretch>
        </p:blipFill>
        <p:spPr>
          <a:xfrm>
            <a:off x="6172200" y="2364322"/>
            <a:ext cx="5577840" cy="2769436"/>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4 — leave-one-cycle-out RMSE, ridge vs HGBR (committed).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Ablation: how much is the surface signal really doing?</a:t>
            </a:r>
          </a:p>
        </p:txBody>
      </p:sp>
      <p:sp>
        <p:nvSpPr>
          <p:cNvPr id="4" name="TextBox 3"/>
          <p:cNvSpPr txBox="1"/>
          <p:nvPr/>
        </p:nvSpPr>
        <p:spPr>
          <a:xfrm>
            <a:off x="640080" y="1371600"/>
            <a:ext cx="5577840" cy="5029200"/>
          </a:xfrm>
          <a:prstGeom prst="rect">
            <a:avLst/>
          </a:prstGeom>
          <a:noFill/>
        </p:spPr>
        <p:txBody>
          <a:bodyPr wrap="square">
            <a:spAutoFit/>
          </a:bodyPr>
          <a:lstStyle/>
          <a:p>
            <a:pPr>
              <a:spcAft>
                <a:spcPts val="1000"/>
              </a:spcAft>
            </a:pPr>
            <a:r>
              <a:rPr sz="1900" b="1" i="0">
                <a:solidFill>
                  <a:srgbClr val="222222"/>
                </a:solidFill>
                <a:latin typeface="Calibri"/>
              </a:rPr>
              <a:t>•  Test: drop all surface-temperature features (electrical signals only)</a:t>
            </a:r>
          </a:p>
          <a:p>
            <a:pPr lvl="1">
              <a:spcAft>
                <a:spcPts val="1000"/>
              </a:spcAft>
            </a:pPr>
            <a:r>
              <a:rPr sz="1800" b="0" i="0">
                <a:solidFill>
                  <a:srgbClr val="222222"/>
                </a:solidFill>
                <a:latin typeface="Calibri"/>
              </a:rPr>
              <a:t>–  Simulates a sensorless deployment — core from I and V alone</a:t>
            </a:r>
          </a:p>
          <a:p>
            <a:pPr lvl="1">
              <a:spcAft>
                <a:spcPts val="1000"/>
              </a:spcAft>
            </a:pPr>
            <a:r>
              <a:rPr sz="1600" b="0" i="0">
                <a:solidFill>
                  <a:srgbClr val="222222"/>
                </a:solidFill>
                <a:latin typeface="Calibri"/>
              </a:rPr>
              <a:t>–  Fixed dev split (test = Mixed1 + Mixed5)</a:t>
            </a:r>
          </a:p>
          <a:p>
            <a:pPr>
              <a:spcAft>
                <a:spcPts val="1000"/>
              </a:spcAft>
            </a:pPr>
            <a:r>
              <a:rPr sz="1900" b="1" i="0">
                <a:solidFill>
                  <a:srgbClr val="222222"/>
                </a:solidFill>
                <a:latin typeface="Calibri"/>
              </a:rPr>
              <a:t>•  Both models degrade sharply without surface</a:t>
            </a:r>
          </a:p>
          <a:p>
            <a:pPr lvl="1">
              <a:spcAft>
                <a:spcPts val="1000"/>
              </a:spcAft>
            </a:pPr>
            <a:r>
              <a:rPr sz="1800" b="0" i="0">
                <a:solidFill>
                  <a:srgbClr val="222222"/>
                </a:solidFill>
                <a:latin typeface="Calibri"/>
              </a:rPr>
              <a:t>–  Full → electrical-only RMSE:  ridge 0.444 → 0.890 °C</a:t>
            </a:r>
          </a:p>
          <a:p>
            <a:pPr lvl="1">
              <a:spcAft>
                <a:spcPts val="1000"/>
              </a:spcAft>
            </a:pPr>
            <a:r>
              <a:rPr sz="1800" b="0" i="0">
                <a:solidFill>
                  <a:srgbClr val="222222"/>
                </a:solidFill>
                <a:latin typeface="Calibri"/>
              </a:rPr>
              <a:t>–  HGBR 0.434 → 0.696 °C</a:t>
            </a:r>
          </a:p>
          <a:p>
            <a:pPr>
              <a:spcAft>
                <a:spcPts val="1000"/>
              </a:spcAft>
            </a:pPr>
            <a:r>
              <a:rPr sz="1900" b="1" i="0">
                <a:solidFill>
                  <a:srgbClr val="222222"/>
                </a:solidFill>
                <a:latin typeface="Calibri"/>
              </a:rPr>
              <a:t>•  And the ranking flips</a:t>
            </a:r>
          </a:p>
          <a:p>
            <a:pPr lvl="1">
              <a:spcAft>
                <a:spcPts val="1000"/>
              </a:spcAft>
            </a:pPr>
            <a:r>
              <a:rPr sz="1800" b="0" i="0">
                <a:solidFill>
                  <a:srgbClr val="222222"/>
                </a:solidFill>
                <a:latin typeface="Calibri"/>
              </a:rPr>
              <a:t>–  With surface, ridge has the tighter tail (max 1.35 vs 1.63 °C)</a:t>
            </a:r>
          </a:p>
          <a:p>
            <a:pPr lvl="1">
              <a:spcAft>
                <a:spcPts val="1000"/>
              </a:spcAft>
            </a:pPr>
            <a:r>
              <a:rPr sz="1800" b="0" i="0">
                <a:solidFill>
                  <a:srgbClr val="222222"/>
                </a:solidFill>
                <a:latin typeface="Calibri"/>
              </a:rPr>
              <a:t>–  Without surface, HGBR wins both (RMSE 0.696 vs 0.890; max 4.32 vs 4.39 °C)</a:t>
            </a:r>
          </a:p>
        </p:txBody>
      </p:sp>
      <p:pic>
        <p:nvPicPr>
          <p:cNvPr id="5" name="Picture 4" descr="F7_ablation_bars.png"/>
          <p:cNvPicPr>
            <a:picLocks noChangeAspect="1"/>
          </p:cNvPicPr>
          <p:nvPr/>
        </p:nvPicPr>
        <p:blipFill>
          <a:blip r:embed="rId3"/>
          <a:stretch>
            <a:fillRect/>
          </a:stretch>
        </p:blipFill>
        <p:spPr>
          <a:xfrm>
            <a:off x="6172200" y="2554619"/>
            <a:ext cx="5577840" cy="2388841"/>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7 — surface-feature ablation, fixed dev split (committed).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Limitations, stated on purpose</a:t>
            </a:r>
          </a:p>
        </p:txBody>
      </p:sp>
      <p:sp>
        <p:nvSpPr>
          <p:cNvPr id="4" name="TextBox 3"/>
          <p:cNvSpPr txBox="1"/>
          <p:nvPr/>
        </p:nvSpPr>
        <p:spPr>
          <a:xfrm>
            <a:off x="640080" y="1371600"/>
            <a:ext cx="5577840" cy="4937760"/>
          </a:xfrm>
          <a:prstGeom prst="rect">
            <a:avLst/>
          </a:prstGeom>
          <a:noFill/>
        </p:spPr>
        <p:txBody>
          <a:bodyPr wrap="square">
            <a:spAutoFit/>
          </a:bodyPr>
          <a:lstStyle/>
          <a:p>
            <a:pPr>
              <a:spcAft>
                <a:spcPts val="1000"/>
              </a:spcAft>
            </a:pPr>
            <a:r>
              <a:rPr sz="2000" b="1" i="0">
                <a:solidFill>
                  <a:srgbClr val="222222"/>
                </a:solidFill>
                <a:latin typeface="Calibri"/>
              </a:rPr>
              <a:t>•  Core-temperature labels are MODEL-DERIVED, not measured</a:t>
            </a:r>
          </a:p>
          <a:p>
            <a:pPr lvl="1">
              <a:spcAft>
                <a:spcPts val="1000"/>
              </a:spcAft>
            </a:pPr>
            <a:r>
              <a:rPr sz="1800" b="0" i="0">
                <a:solidFill>
                  <a:srgbClr val="222222"/>
                </a:solidFill>
                <a:latin typeface="Calibri"/>
              </a:rPr>
              <a:t>–  No core thermocouple exists; low ML error certifies agreement with the</a:t>
            </a:r>
          </a:p>
          <a:p>
            <a:pPr lvl="1">
              <a:spcAft>
                <a:spcPts val="1000"/>
              </a:spcAft>
            </a:pPr>
            <a:r>
              <a:rPr sz="1800" b="0" i="0">
                <a:solidFill>
                  <a:srgbClr val="222222"/>
                </a:solidFill>
                <a:latin typeface="Calibri"/>
              </a:rPr>
              <a:t>–  labels, NOT that their absolute core values are correct</a:t>
            </a:r>
          </a:p>
          <a:p>
            <a:pPr>
              <a:spcAft>
                <a:spcPts val="1000"/>
              </a:spcAft>
            </a:pPr>
            <a:r>
              <a:rPr sz="2000" b="1" i="0">
                <a:solidFill>
                  <a:srgbClr val="222222"/>
                </a:solidFill>
                <a:latin typeface="Calibri"/>
              </a:rPr>
              <a:t>•  The R_cs label band (~5 °C) is the dominant uncertainty</a:t>
            </a:r>
          </a:p>
          <a:p>
            <a:pPr lvl="1">
              <a:spcAft>
                <a:spcPts val="1000"/>
              </a:spcAft>
            </a:pPr>
            <a:r>
              <a:rPr sz="1800" b="0" i="0">
                <a:solidFill>
                  <a:srgbClr val="222222"/>
                </a:solidFill>
                <a:latin typeface="Calibri"/>
              </a:rPr>
              <a:t>–  Not one limitation among several — it IS the limitation</a:t>
            </a:r>
          </a:p>
          <a:p>
            <a:pPr>
              <a:spcAft>
                <a:spcPts val="1000"/>
              </a:spcAft>
            </a:pPr>
            <a:r>
              <a:rPr sz="2000" b="1" i="0">
                <a:solidFill>
                  <a:srgbClr val="222222"/>
                </a:solidFill>
                <a:latin typeface="Calibri"/>
              </a:rPr>
              <a:t>•  Claims are cycle-scoped</a:t>
            </a:r>
          </a:p>
          <a:p>
            <a:pPr lvl="1">
              <a:spcAft>
                <a:spcPts val="1000"/>
              </a:spcAft>
            </a:pPr>
            <a:r>
              <a:rPr sz="1800" b="0" i="0">
                <a:solidFill>
                  <a:srgbClr val="222222"/>
                </a:solidFill>
                <a:latin typeface="Calibri"/>
              </a:rPr>
              <a:t>–  Clean pipeline-value claims rest on two thermally-validated cycles (Mixed1, Mixed2)</a:t>
            </a:r>
          </a:p>
          <a:p>
            <a:pPr lvl="1">
              <a:spcAft>
                <a:spcPts val="1000"/>
              </a:spcAft>
            </a:pPr>
            <a:r>
              <a:rPr sz="1800" b="0" i="0">
                <a:solidFill>
                  <a:srgbClr val="222222"/>
                </a:solidFill>
                <a:latin typeface="Calibri"/>
              </a:rPr>
              <a:t>–  Labels are 25 °C only; at 0 °C the model over-accumulates heat and breaks down</a:t>
            </a:r>
          </a:p>
        </p:txBody>
      </p:sp>
      <p:pic>
        <p:nvPicPr>
          <p:cNvPr id="5" name="Picture 4" descr="F3_severity_validation_bars.png"/>
          <p:cNvPicPr>
            <a:picLocks noChangeAspect="1"/>
          </p:cNvPicPr>
          <p:nvPr/>
        </p:nvPicPr>
        <p:blipFill>
          <a:blip r:embed="rId3"/>
          <a:stretch>
            <a:fillRect/>
          </a:stretch>
        </p:blipFill>
        <p:spPr>
          <a:xfrm>
            <a:off x="6172200" y="2154059"/>
            <a:ext cx="5577840" cy="3189961"/>
          </a:xfrm>
          <a:prstGeom prst="rect">
            <a:avLst/>
          </a:prstGeom>
        </p:spPr>
      </p:pic>
      <p:sp>
        <p:nvSpPr>
          <p:cNvPr id="6" name="TextBox 5"/>
          <p:cNvSpPr txBox="1"/>
          <p:nvPr/>
        </p:nvSpPr>
        <p:spPr>
          <a:xfrm>
            <a:off x="6126480" y="6309360"/>
            <a:ext cx="5852160" cy="457200"/>
          </a:xfrm>
          <a:prstGeom prst="rect">
            <a:avLst/>
          </a:prstGeom>
          <a:noFill/>
        </p:spPr>
        <p:txBody>
          <a:bodyPr wrap="square">
            <a:spAutoFit/>
          </a:bodyPr>
          <a:lstStyle/>
          <a:p>
            <a:r>
              <a:rPr sz="1100" b="0" i="1">
                <a:solidFill>
                  <a:srgbClr val="666666"/>
                </a:solidFill>
                <a:latin typeface="Calibri"/>
              </a:rPr>
              <a:t>Fig 3 — surface-RMSE by regime; 0 °C is out-of-regime (committed).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914400"/>
          </a:xfrm>
          <a:prstGeom prst="rect">
            <a:avLst/>
          </a:prstGeom>
          <a:noFill/>
        </p:spPr>
        <p:txBody>
          <a:bodyPr wrap="square">
            <a:spAutoFit/>
          </a:bodyPr>
          <a:lstStyle/>
          <a:p>
            <a:r>
              <a:rPr sz="3400" b="1" i="0">
                <a:solidFill>
                  <a:srgbClr val="1F4E79"/>
                </a:solidFill>
                <a:latin typeface="Calibri"/>
              </a:rPr>
              <a:t>Reproducibility: two honest modes</a:t>
            </a:r>
          </a:p>
        </p:txBody>
      </p:sp>
      <p:sp>
        <p:nvSpPr>
          <p:cNvPr id="4" name="TextBox 3"/>
          <p:cNvSpPr txBox="1"/>
          <p:nvPr/>
        </p:nvSpPr>
        <p:spPr>
          <a:xfrm>
            <a:off x="640080" y="1371600"/>
            <a:ext cx="10972800" cy="4937760"/>
          </a:xfrm>
          <a:prstGeom prst="rect">
            <a:avLst/>
          </a:prstGeom>
          <a:noFill/>
        </p:spPr>
        <p:txBody>
          <a:bodyPr wrap="square">
            <a:spAutoFit/>
          </a:bodyPr>
          <a:lstStyle/>
          <a:p>
            <a:pPr>
              <a:spcAft>
                <a:spcPts val="1000"/>
              </a:spcAft>
            </a:pPr>
            <a:r>
              <a:rPr sz="2100" b="1" i="0">
                <a:solidFill>
                  <a:srgbClr val="222222"/>
                </a:solidFill>
                <a:latin typeface="Calibri"/>
              </a:rPr>
              <a:t>•  The repository is public</a:t>
            </a:r>
          </a:p>
          <a:p>
            <a:pPr lvl="1">
              <a:spcAft>
                <a:spcPts val="1000"/>
              </a:spcAft>
            </a:pPr>
            <a:r>
              <a:rPr sz="1800" b="1" i="0">
                <a:solidFill>
                  <a:srgbClr val="222222"/>
                </a:solidFill>
                <a:latin typeface="Calibri"/>
              </a:rPr>
              <a:t>–  github.com/Avinashsingh17/li-ion-core-temperature-physics-ml</a:t>
            </a:r>
          </a:p>
          <a:p>
            <a:pPr>
              <a:spcAft>
                <a:spcPts val="1000"/>
              </a:spcAft>
            </a:pPr>
            <a:r>
              <a:rPr sz="2100" b="1" i="0">
                <a:solidFill>
                  <a:srgbClr val="222222"/>
                </a:solidFill>
                <a:latin typeface="Calibri"/>
              </a:rPr>
              <a:t>•  Mode 1 — regenerate the published figures</a:t>
            </a:r>
          </a:p>
          <a:p>
            <a:pPr lvl="1">
              <a:spcAft>
                <a:spcPts val="1000"/>
              </a:spcAft>
            </a:pPr>
            <a:r>
              <a:rPr sz="1800" b="0" i="0">
                <a:solidFill>
                  <a:srgbClr val="222222"/>
                </a:solidFill>
                <a:latin typeface="Calibri"/>
              </a:rPr>
              <a:t>–  From the committed, locked 2026-06-18b calibration</a:t>
            </a:r>
          </a:p>
          <a:p>
            <a:pPr>
              <a:spcAft>
                <a:spcPts val="1000"/>
              </a:spcAft>
            </a:pPr>
            <a:r>
              <a:rPr sz="2100" b="1" i="0">
                <a:solidFill>
                  <a:srgbClr val="222222"/>
                </a:solidFill>
                <a:latin typeface="Calibri"/>
              </a:rPr>
              <a:t>•  Mode 2 — re-derive the calibration from scratch</a:t>
            </a:r>
          </a:p>
          <a:p>
            <a:pPr lvl="1">
              <a:spcAft>
                <a:spcPts val="1000"/>
              </a:spcAft>
            </a:pPr>
            <a:r>
              <a:rPr sz="1800" b="0" i="0">
                <a:solidFill>
                  <a:srgbClr val="222222"/>
                </a:solidFill>
                <a:latin typeface="Calibri"/>
              </a:rPr>
              <a:t>–  For anyone who wants to check the physics rather than take it on trust</a:t>
            </a:r>
          </a:p>
          <a:p>
            <a:pPr lvl="1">
              <a:spcAft>
                <a:spcPts val="1000"/>
              </a:spcAft>
            </a:pPr>
            <a:r>
              <a:rPr sz="1800" b="0" i="0">
                <a:solidFill>
                  <a:srgbClr val="222222"/>
                </a:solidFill>
                <a:latin typeface="Calibri"/>
              </a:rPr>
              <a:t>–  May not land bit-for-bit on the locked parameters</a:t>
            </a:r>
          </a:p>
          <a:p>
            <a:pPr>
              <a:spcAft>
                <a:spcPts val="1000"/>
              </a:spcAft>
            </a:pPr>
            <a:r>
              <a:rPr sz="2100" b="1" i="0">
                <a:solidFill>
                  <a:srgbClr val="222222"/>
                </a:solidFill>
                <a:latin typeface="Calibri"/>
              </a:rPr>
              <a:t>•  A guard enforces it</a:t>
            </a:r>
          </a:p>
          <a:p>
            <a:pPr lvl="1">
              <a:spcAft>
                <a:spcPts val="1000"/>
              </a:spcAft>
            </a:pPr>
            <a:r>
              <a:rPr sz="1800" b="0" i="0">
                <a:solidFill>
                  <a:srgbClr val="222222"/>
                </a:solidFill>
                <a:latin typeface="Calibri"/>
              </a:rPr>
              <a:t>–  The figure script refuses to run if the calibration drifts from the locked run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94560"/>
            <a:ext cx="12191695" cy="24688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23160"/>
            <a:ext cx="10515600" cy="2011680"/>
          </a:xfrm>
          <a:prstGeom prst="rect">
            <a:avLst/>
          </a:prstGeom>
          <a:noFill/>
        </p:spPr>
        <p:txBody>
          <a:bodyPr wrap="square">
            <a:spAutoFit/>
          </a:bodyPr>
          <a:lstStyle/>
          <a:p>
            <a:r>
              <a:rPr sz="2800" b="1" i="0">
                <a:solidFill>
                  <a:srgbClr val="FFFFFF"/>
                </a:solidFill>
                <a:latin typeface="Calibri"/>
              </a:rPr>
              <a:t>I built a careful estimator of a quantity I can't measure — and the most valuable thing it produces is an honest account of how much it can't know.</a:t>
            </a:r>
          </a:p>
        </p:txBody>
      </p:sp>
      <p:sp>
        <p:nvSpPr>
          <p:cNvPr id="4" name="TextBox 3"/>
          <p:cNvSpPr txBox="1"/>
          <p:nvPr/>
        </p:nvSpPr>
        <p:spPr>
          <a:xfrm>
            <a:off x="822960" y="4846320"/>
            <a:ext cx="10515600" cy="822960"/>
          </a:xfrm>
          <a:prstGeom prst="rect">
            <a:avLst/>
          </a:prstGeom>
          <a:noFill/>
        </p:spPr>
        <p:txBody>
          <a:bodyPr wrap="square">
            <a:spAutoFit/>
          </a:bodyPr>
          <a:lstStyle/>
          <a:p>
            <a:r>
              <a:rPr sz="1800" b="0" i="1">
                <a:solidFill>
                  <a:srgbClr val="222222"/>
                </a:solidFill>
                <a:latin typeface="Calibri"/>
              </a:rPr>
              <a:t>You can get very good at reading the skin — but past a point, the limit isn't your skill with the thermometer you have. It's the thermometer you don't.</a:t>
            </a:r>
          </a:p>
        </p:txBody>
      </p:sp>
      <p:sp>
        <p:nvSpPr>
          <p:cNvPr id="5" name="TextBox 4"/>
          <p:cNvSpPr txBox="1"/>
          <p:nvPr/>
        </p:nvSpPr>
        <p:spPr>
          <a:xfrm>
            <a:off x="822960" y="5943600"/>
            <a:ext cx="10515600" cy="457200"/>
          </a:xfrm>
          <a:prstGeom prst="rect">
            <a:avLst/>
          </a:prstGeom>
          <a:noFill/>
        </p:spPr>
        <p:txBody>
          <a:bodyPr wrap="square">
            <a:spAutoFit/>
          </a:bodyPr>
          <a:lstStyle/>
          <a:p>
            <a:r>
              <a:rPr sz="1600" b="1" i="0">
                <a:solidFill>
                  <a:srgbClr val="1F4E79"/>
                </a:solidFill>
                <a:latin typeface="Calibri"/>
              </a:rPr>
              <a:t>github.com/Avinashsingh17/li-ion-core-temperature-physics-ml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820</TotalTime>
  <Words>2630</Words>
  <Application>Microsoft Office PowerPoint</Application>
  <PresentationFormat>Widescreen</PresentationFormat>
  <Paragraphs>121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Nayal, Avinash</cp:lastModifiedBy>
  <cp:revision>1</cp:revision>
  <dcterms:created xsi:type="dcterms:W3CDTF">2013-01-27T09:14:16Z</dcterms:created>
  <dcterms:modified xsi:type="dcterms:W3CDTF">2026-07-01T15:23:30Z</dcterms:modified>
  <cp:category/>
</cp:coreProperties>
</file>